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384" r:id="rId2"/>
    <p:sldId id="387" r:id="rId3"/>
    <p:sldId id="386" r:id="rId4"/>
    <p:sldId id="385" r:id="rId5"/>
    <p:sldId id="380" r:id="rId6"/>
    <p:sldId id="382" r:id="rId7"/>
    <p:sldId id="381" r:id="rId8"/>
    <p:sldId id="38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 Hui 刘辉(PT,SWH)" initials="LH刘" lastIdx="1" clrIdx="0">
    <p:extLst>
      <p:ext uri="{19B8F6BF-5375-455C-9EA6-DF929625EA0E}">
        <p15:presenceInfo xmlns:p15="http://schemas.microsoft.com/office/powerpoint/2012/main" userId="S-1-5-21-3620022851-3191852527-2165335322-694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D9F1"/>
    <a:srgbClr val="0067A6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100" autoAdjust="0"/>
    <p:restoredTop sz="95501" autoAdjust="0"/>
  </p:normalViewPr>
  <p:slideViewPr>
    <p:cSldViewPr snapToGrid="0">
      <p:cViewPr varScale="1">
        <p:scale>
          <a:sx n="92" d="100"/>
          <a:sy n="92" d="100"/>
        </p:scale>
        <p:origin x="306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00230F-18B8-4BF7-ACCB-7F190EA6648E}" type="datetimeFigureOut">
              <a:rPr lang="zh-CN" altLang="en-US" smtClean="0"/>
              <a:t>2022/2/21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3F615D-F6E4-4C1E-87F7-B29E0455778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25500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0026995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lIns="97704" tIns="48852" rIns="97704" bIns="48852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9383048" y="65743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r">
              <a:defRPr sz="12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2006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319088"/>
            <a:ext cx="9855200" cy="563562"/>
          </a:xfrm>
          <a:prstGeom prst="rect">
            <a:avLst/>
          </a:prstGeom>
        </p:spPr>
        <p:txBody>
          <a:bodyPr lIns="97704" tIns="48852" rIns="97704" bIns="48852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44312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lIns="97704" tIns="48852" rIns="97704" bIns="48852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5384799" cy="2185988"/>
          </a:xfrm>
          <a:prstGeom prst="rect">
            <a:avLst/>
          </a:prstGeom>
        </p:spPr>
        <p:txBody>
          <a:bodyPr lIns="97704" tIns="48852" rIns="97704" bIns="48852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197601" y="1600200"/>
            <a:ext cx="5384799" cy="2185988"/>
          </a:xfrm>
          <a:prstGeom prst="rect">
            <a:avLst/>
          </a:prstGeom>
        </p:spPr>
        <p:txBody>
          <a:bodyPr lIns="97704" tIns="48852" rIns="97704" bIns="48852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9600" y="3938589"/>
            <a:ext cx="5384799" cy="2187575"/>
          </a:xfrm>
          <a:prstGeom prst="rect">
            <a:avLst/>
          </a:prstGeom>
        </p:spPr>
        <p:txBody>
          <a:bodyPr lIns="97704" tIns="48852" rIns="97704" bIns="48852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7601" y="3938589"/>
            <a:ext cx="5384799" cy="2187575"/>
          </a:xfrm>
          <a:prstGeom prst="rect">
            <a:avLst/>
          </a:prstGeom>
        </p:spPr>
        <p:txBody>
          <a:bodyPr lIns="97704" tIns="48852" rIns="97704" bIns="48852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>
          <a:xfrm>
            <a:off x="4559300" y="6165850"/>
            <a:ext cx="2540000" cy="457200"/>
          </a:xfrm>
          <a:prstGeom prst="rect">
            <a:avLst/>
          </a:prstGeom>
        </p:spPr>
        <p:txBody>
          <a:bodyPr lIns="97704" tIns="48852" rIns="97704" bIns="48852"/>
          <a:lstStyle>
            <a:lvl1pPr>
              <a:defRPr/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984474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lIns="97704" tIns="48852" rIns="97704" bIns="48852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lIns="97704" tIns="48852" rIns="97704" bIns="48852"/>
          <a:lstStyle/>
          <a:p>
            <a:fld id="{A277460F-1FDB-4941-A3E7-760D60271B6C}" type="datetimeFigureOut">
              <a:rPr lang="zh-CN" altLang="en-US">
                <a:solidFill>
                  <a:prstClr val="black"/>
                </a:solidFill>
              </a:rPr>
              <a:pPr/>
              <a:t>2022/2/21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灯片编号占位符 11"/>
          <p:cNvSpPr>
            <a:spLocks noGrp="1"/>
          </p:cNvSpPr>
          <p:nvPr>
            <p:ph type="sldNum" sz="quarter" idx="4"/>
          </p:nvPr>
        </p:nvSpPr>
        <p:spPr>
          <a:xfrm>
            <a:off x="9347242" y="6572250"/>
            <a:ext cx="2844800" cy="285750"/>
          </a:xfrm>
          <a:prstGeom prst="rect">
            <a:avLst/>
          </a:prstGeom>
        </p:spPr>
        <p:txBody>
          <a:bodyPr lIns="97704" tIns="48852" rIns="97704" bIns="48852"/>
          <a:lstStyle>
            <a:lvl1pPr algn="r">
              <a:defRPr sz="1234" u="none"/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2690822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06615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/>
        </p:nvCxnSpPr>
        <p:spPr>
          <a:xfrm>
            <a:off x="0" y="714376"/>
            <a:ext cx="12192000" cy="1588"/>
          </a:xfrm>
          <a:prstGeom prst="line">
            <a:avLst/>
          </a:prstGeom>
          <a:ln w="57150">
            <a:solidFill>
              <a:srgbClr val="0067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0416" y="1"/>
            <a:ext cx="2351584" cy="67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0" name="直接连接符 9"/>
          <p:cNvCxnSpPr/>
          <p:nvPr/>
        </p:nvCxnSpPr>
        <p:spPr>
          <a:xfrm>
            <a:off x="0" y="6570694"/>
            <a:ext cx="12192000" cy="1587"/>
          </a:xfrm>
          <a:prstGeom prst="line">
            <a:avLst/>
          </a:prstGeom>
          <a:ln w="190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9383048" y="65743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r">
              <a:defRPr sz="12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498577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lIns="97704" tIns="48852" rIns="97704" bIns="48852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9383048" y="65743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r">
              <a:defRPr sz="12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3051891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319088"/>
            <a:ext cx="9855200" cy="563562"/>
          </a:xfrm>
          <a:prstGeom prst="rect">
            <a:avLst/>
          </a:prstGeom>
        </p:spPr>
        <p:txBody>
          <a:bodyPr lIns="97704" tIns="48852" rIns="97704" bIns="48852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2923888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lIns="97704" tIns="48852" rIns="97704" bIns="48852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lIns="97704" tIns="48852" rIns="97704" bIns="48852"/>
          <a:lstStyle/>
          <a:p>
            <a:fld id="{A277460F-1FDB-4941-A3E7-760D60271B6C}" type="datetimeFigureOut">
              <a:rPr lang="zh-CN" altLang="en-US">
                <a:solidFill>
                  <a:prstClr val="black"/>
                </a:solidFill>
              </a:rPr>
              <a:pPr/>
              <a:t>2022/2/21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灯片编号占位符 11"/>
          <p:cNvSpPr>
            <a:spLocks noGrp="1"/>
          </p:cNvSpPr>
          <p:nvPr>
            <p:ph type="sldNum" sz="quarter" idx="4"/>
          </p:nvPr>
        </p:nvSpPr>
        <p:spPr>
          <a:xfrm>
            <a:off x="9347242" y="6572250"/>
            <a:ext cx="2844800" cy="285750"/>
          </a:xfrm>
          <a:prstGeom prst="rect">
            <a:avLst/>
          </a:prstGeom>
        </p:spPr>
        <p:txBody>
          <a:bodyPr lIns="97704" tIns="48852" rIns="97704" bIns="48852"/>
          <a:lstStyle>
            <a:lvl1pPr algn="r">
              <a:defRPr sz="1234" u="none"/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458210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10769600" y="64928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l">
              <a:defRPr sz="1234">
                <a:solidFill>
                  <a:schemeClr val="tx1">
                    <a:tint val="75000"/>
                  </a:schemeClr>
                </a:solidFill>
                <a:latin typeface="Arial Unicode MS" pitchFamily="34" charset="-122"/>
                <a:ea typeface="Arial Unicode MS" pitchFamily="34" charset="-122"/>
                <a:cs typeface="Arial Unicode MS" pitchFamily="34" charset="-122"/>
              </a:defRPr>
            </a:lvl1pPr>
          </a:lstStyle>
          <a:p>
            <a:fld id="{A277460F-1FDB-4941-A3E7-760D60271B6C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2022/2/21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7753342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10769600" y="64928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l">
              <a:defRPr sz="1234">
                <a:solidFill>
                  <a:schemeClr val="tx1">
                    <a:tint val="75000"/>
                  </a:schemeClr>
                </a:solidFill>
                <a:latin typeface="Arial Unicode MS" pitchFamily="34" charset="-122"/>
                <a:ea typeface="Arial Unicode MS" pitchFamily="34" charset="-122"/>
                <a:cs typeface="Arial Unicode MS" pitchFamily="34" charset="-122"/>
              </a:defRPr>
            </a:lvl1pPr>
          </a:lstStyle>
          <a:p>
            <a:fld id="{A277460F-1FDB-4941-A3E7-760D60271B6C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2022/2/21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7266378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10769600" y="64928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l">
              <a:defRPr sz="1234">
                <a:solidFill>
                  <a:schemeClr val="tx1">
                    <a:tint val="75000"/>
                  </a:schemeClr>
                </a:solidFill>
                <a:latin typeface="Arial Unicode MS" pitchFamily="34" charset="-122"/>
                <a:ea typeface="Arial Unicode MS" pitchFamily="34" charset="-122"/>
                <a:cs typeface="Arial Unicode MS" pitchFamily="34" charset="-122"/>
              </a:defRPr>
            </a:lvl1pPr>
          </a:lstStyle>
          <a:p>
            <a:fld id="{A277460F-1FDB-4941-A3E7-760D60271B6C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2022/2/21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1208476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7969927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450325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ate Placeholder 3"/>
          <p:cNvSpPr>
            <a:spLocks noGrp="1"/>
          </p:cNvSpPr>
          <p:nvPr>
            <p:ph type="dt" sz="half" idx="2"/>
          </p:nvPr>
        </p:nvSpPr>
        <p:spPr>
          <a:xfrm>
            <a:off x="10769600" y="64928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l">
              <a:defRPr sz="1234">
                <a:solidFill>
                  <a:schemeClr val="tx1">
                    <a:tint val="75000"/>
                  </a:schemeClr>
                </a:solidFill>
                <a:latin typeface="Arial Unicode MS" pitchFamily="34" charset="-122"/>
                <a:ea typeface="Arial Unicode MS" pitchFamily="34" charset="-122"/>
                <a:cs typeface="Arial Unicode MS" pitchFamily="34" charset="-122"/>
              </a:defRPr>
            </a:lvl1pPr>
          </a:lstStyle>
          <a:p>
            <a:fld id="{A277460F-1FDB-4941-A3E7-760D60271B6C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2022/2/21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42424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/>
        </p:nvCxnSpPr>
        <p:spPr>
          <a:xfrm>
            <a:off x="0" y="714376"/>
            <a:ext cx="12192000" cy="1588"/>
          </a:xfrm>
          <a:prstGeom prst="line">
            <a:avLst/>
          </a:prstGeom>
          <a:ln w="57150">
            <a:solidFill>
              <a:srgbClr val="0067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0416" y="1"/>
            <a:ext cx="2351584" cy="67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0" name="直接连接符 9"/>
          <p:cNvCxnSpPr/>
          <p:nvPr/>
        </p:nvCxnSpPr>
        <p:spPr>
          <a:xfrm>
            <a:off x="0" y="6570694"/>
            <a:ext cx="12192000" cy="1587"/>
          </a:xfrm>
          <a:prstGeom prst="line">
            <a:avLst/>
          </a:prstGeom>
          <a:ln w="190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9383048" y="65743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r">
              <a:defRPr sz="12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7911294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lIns="97704" tIns="48852" rIns="97704" bIns="48852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9383048" y="65743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r">
              <a:defRPr sz="12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2967493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319088"/>
            <a:ext cx="9855200" cy="563562"/>
          </a:xfrm>
          <a:prstGeom prst="rect">
            <a:avLst/>
          </a:prstGeom>
        </p:spPr>
        <p:txBody>
          <a:bodyPr lIns="97704" tIns="48852" rIns="97704" bIns="48852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161272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/>
        </p:nvCxnSpPr>
        <p:spPr>
          <a:xfrm>
            <a:off x="0" y="714376"/>
            <a:ext cx="12192000" cy="1588"/>
          </a:xfrm>
          <a:prstGeom prst="line">
            <a:avLst/>
          </a:prstGeom>
          <a:ln w="57150">
            <a:solidFill>
              <a:srgbClr val="0067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0416" y="1"/>
            <a:ext cx="2351584" cy="67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0" name="直接连接符 9"/>
          <p:cNvCxnSpPr/>
          <p:nvPr/>
        </p:nvCxnSpPr>
        <p:spPr>
          <a:xfrm>
            <a:off x="0" y="6570694"/>
            <a:ext cx="12192000" cy="1587"/>
          </a:xfrm>
          <a:prstGeom prst="line">
            <a:avLst/>
          </a:prstGeom>
          <a:ln w="190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9383048" y="65743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r">
              <a:defRPr sz="12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151569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lIns="97704" tIns="48852" rIns="97704" bIns="48852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9383048" y="6574376"/>
            <a:ext cx="2844800" cy="365125"/>
          </a:xfrm>
          <a:prstGeom prst="rect">
            <a:avLst/>
          </a:prstGeom>
        </p:spPr>
        <p:txBody>
          <a:bodyPr vert="horz" lIns="97704" tIns="48852" rIns="97704" bIns="48852" rtlCol="0" anchor="ctr"/>
          <a:lstStyle>
            <a:lvl1pPr algn="r">
              <a:defRPr sz="12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920523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319088"/>
            <a:ext cx="9855200" cy="563562"/>
          </a:xfrm>
          <a:prstGeom prst="rect">
            <a:avLst/>
          </a:prstGeom>
        </p:spPr>
        <p:txBody>
          <a:bodyPr lIns="97704" tIns="48852" rIns="97704" bIns="48852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8449171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lIns="97704" tIns="48852" rIns="97704" bIns="48852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lIns="97704" tIns="48852" rIns="97704" bIns="48852"/>
          <a:lstStyle/>
          <a:p>
            <a:fld id="{A277460F-1FDB-4941-A3E7-760D60271B6C}" type="datetimeFigureOut">
              <a:rPr lang="zh-CN" altLang="en-US">
                <a:solidFill>
                  <a:prstClr val="black"/>
                </a:solidFill>
              </a:rPr>
              <a:pPr/>
              <a:t>2022/2/21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5" name="灯片编号占位符 11"/>
          <p:cNvSpPr>
            <a:spLocks noGrp="1"/>
          </p:cNvSpPr>
          <p:nvPr>
            <p:ph type="sldNum" sz="quarter" idx="4"/>
          </p:nvPr>
        </p:nvSpPr>
        <p:spPr>
          <a:xfrm>
            <a:off x="9347242" y="6572250"/>
            <a:ext cx="2844800" cy="285750"/>
          </a:xfrm>
          <a:prstGeom prst="rect">
            <a:avLst/>
          </a:prstGeom>
        </p:spPr>
        <p:txBody>
          <a:bodyPr lIns="97704" tIns="48852" rIns="97704" bIns="48852"/>
          <a:lstStyle>
            <a:lvl1pPr algn="r">
              <a:defRPr sz="1234" u="none"/>
            </a:lvl1pPr>
          </a:lstStyle>
          <a:p>
            <a:fld id="{3805CE5E-E5E3-4C40-905C-7A121B2F50D9}" type="slidenum">
              <a:rPr lang="zh-CN" altLang="en-US" smtClean="0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7009623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69098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322529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609600" y="6356356"/>
            <a:ext cx="2844800" cy="365125"/>
          </a:xfrm>
          <a:prstGeom prst="rect">
            <a:avLst/>
          </a:prstGeom>
        </p:spPr>
        <p:txBody>
          <a:bodyPr/>
          <a:lstStyle/>
          <a:p>
            <a:fld id="{A277460F-1FDB-4941-A3E7-760D60271B6C}" type="datetimeFigureOut">
              <a:rPr lang="zh-CN" altLang="en-US">
                <a:solidFill>
                  <a:prstClr val="black"/>
                </a:solidFill>
              </a:rPr>
              <a:pPr/>
              <a:t>2022/2/21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21" name="Slide Number Placeholder 20"/>
          <p:cNvSpPr>
            <a:spLocks noGrp="1"/>
          </p:cNvSpPr>
          <p:nvPr>
            <p:ph type="sldNum" sz="quarter" idx="11"/>
          </p:nvPr>
        </p:nvSpPr>
        <p:spPr>
          <a:xfrm>
            <a:off x="8737600" y="6356356"/>
            <a:ext cx="2844800" cy="365125"/>
          </a:xfrm>
          <a:prstGeom prst="rect">
            <a:avLst/>
          </a:prstGeom>
        </p:spPr>
        <p:txBody>
          <a:bodyPr/>
          <a:lstStyle/>
          <a:p>
            <a:fld id="{3805CE5E-E5E3-4C40-905C-7A121B2F50D9}" type="slidenum">
              <a:rPr lang="zh-CN" altLang="en-US">
                <a:solidFill>
                  <a:prstClr val="black"/>
                </a:solidFill>
              </a:rPr>
              <a:pPr/>
              <a:t>‹#›</a:t>
            </a:fld>
            <a:endParaRPr lang="zh-CN" altLang="en-US">
              <a:solidFill>
                <a:prstClr val="black"/>
              </a:solidFill>
            </a:endParaRPr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12"/>
          </p:nvPr>
        </p:nvSpPr>
        <p:spPr>
          <a:xfrm>
            <a:off x="4165607" y="6356356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10844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-218016" y="1840449"/>
            <a:ext cx="12192000" cy="679935"/>
          </a:xfrm>
          <a:prstGeom prst="rect">
            <a:avLst/>
          </a:prstGeom>
        </p:spPr>
        <p:txBody>
          <a:bodyPr anchor="ctr"/>
          <a:lstStyle>
            <a:lvl1pPr algn="ctr">
              <a:defRPr sz="2037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</a:defRPr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49295" y="6599238"/>
            <a:ext cx="1542704" cy="258762"/>
          </a:xfrm>
          <a:prstGeom prst="rect">
            <a:avLst/>
          </a:prstGeom>
        </p:spPr>
        <p:txBody>
          <a:bodyPr/>
          <a:lstStyle>
            <a:lvl1pPr algn="r">
              <a:defRPr sz="1365"/>
            </a:lvl1pPr>
          </a:lstStyle>
          <a:p>
            <a:fld id="{90D24BE5-3E69-4187-BCCF-5E8CFA63C4D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65617" y="927245"/>
            <a:ext cx="11624733" cy="5573712"/>
          </a:xfrm>
          <a:prstGeom prst="rect">
            <a:avLst/>
          </a:prstGeom>
        </p:spPr>
        <p:txBody>
          <a:bodyPr/>
          <a:lstStyle>
            <a:lvl1pPr>
              <a:defRPr sz="1600"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>
              <a:defRPr sz="1600">
                <a:latin typeface="等线" panose="02010600030101010101" pitchFamily="2" charset="-122"/>
                <a:ea typeface="等线" panose="02010600030101010101" pitchFamily="2" charset="-122"/>
              </a:defRPr>
            </a:lvl2pPr>
            <a:lvl3pPr>
              <a:defRPr sz="1600">
                <a:latin typeface="等线" panose="02010600030101010101" pitchFamily="2" charset="-122"/>
                <a:ea typeface="等线" panose="02010600030101010101" pitchFamily="2" charset="-122"/>
              </a:defRPr>
            </a:lvl3pPr>
            <a:lvl4pPr>
              <a:defRPr sz="1600">
                <a:latin typeface="等线" panose="02010600030101010101" pitchFamily="2" charset="-122"/>
                <a:ea typeface="等线" panose="02010600030101010101" pitchFamily="2" charset="-122"/>
              </a:defRPr>
            </a:lvl4pPr>
            <a:lvl5pPr>
              <a:defRPr sz="1600">
                <a:latin typeface="等线" panose="02010600030101010101" pitchFamily="2" charset="-122"/>
                <a:ea typeface="等线" panose="02010600030101010101" pitchFamily="2" charset="-122"/>
              </a:defRPr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26647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4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e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连接符 9"/>
          <p:cNvCxnSpPr/>
          <p:nvPr/>
        </p:nvCxnSpPr>
        <p:spPr>
          <a:xfrm>
            <a:off x="0" y="6572343"/>
            <a:ext cx="12192000" cy="1587"/>
          </a:xfrm>
          <a:prstGeom prst="line">
            <a:avLst/>
          </a:prstGeom>
          <a:ln w="190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6"/>
          <p:cNvCxnSpPr/>
          <p:nvPr/>
        </p:nvCxnSpPr>
        <p:spPr>
          <a:xfrm>
            <a:off x="0" y="762646"/>
            <a:ext cx="12192000" cy="19439"/>
          </a:xfrm>
          <a:prstGeom prst="line">
            <a:avLst/>
          </a:prstGeom>
          <a:ln w="44450">
            <a:solidFill>
              <a:srgbClr val="0067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/>
          <p:cNvPicPr>
            <a:picLocks noChangeAspect="1"/>
          </p:cNvPicPr>
          <p:nvPr userDrawn="1"/>
        </p:nvPicPr>
        <p:blipFill rotWithShape="1"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87" b="21710"/>
          <a:stretch/>
        </p:blipFill>
        <p:spPr>
          <a:xfrm>
            <a:off x="9113776" y="91067"/>
            <a:ext cx="1036330" cy="61864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 userDrawn="1"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3753" y="101856"/>
            <a:ext cx="1055830" cy="604469"/>
          </a:xfrm>
          <a:prstGeom prst="rect">
            <a:avLst/>
          </a:prstGeom>
        </p:spPr>
      </p:pic>
      <p:grpSp>
        <p:nvGrpSpPr>
          <p:cNvPr id="11" name="Group 10"/>
          <p:cNvGrpSpPr/>
          <p:nvPr userDrawn="1"/>
        </p:nvGrpSpPr>
        <p:grpSpPr>
          <a:xfrm>
            <a:off x="5036071" y="6566351"/>
            <a:ext cx="2119858" cy="291649"/>
            <a:chOff x="3692989" y="6566646"/>
            <a:chExt cx="2119858" cy="291649"/>
          </a:xfrm>
        </p:grpSpPr>
        <p:pic>
          <p:nvPicPr>
            <p:cNvPr id="12" name="Picture 11"/>
            <p:cNvPicPr>
              <a:picLocks noChangeAspect="1"/>
            </p:cNvPicPr>
            <p:nvPr userDrawn="1"/>
          </p:nvPicPr>
          <p:blipFill>
            <a:blip r:embed="rId3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2989" y="6566646"/>
              <a:ext cx="802876" cy="291354"/>
            </a:xfrm>
            <a:prstGeom prst="rect">
              <a:avLst/>
            </a:prstGeom>
          </p:spPr>
        </p:pic>
        <p:sp>
          <p:nvSpPr>
            <p:cNvPr id="13" name="Rectangle 12"/>
            <p:cNvSpPr/>
            <p:nvPr userDrawn="1"/>
          </p:nvSpPr>
          <p:spPr>
            <a:xfrm>
              <a:off x="4845916" y="6579629"/>
              <a:ext cx="966931" cy="27866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11" b="1" i="1" u="none" strike="noStrike" kern="1200" cap="none" spc="0" normalizeH="0" baseline="0" noProof="0" dirty="0">
                  <a:ln>
                    <a:noFill/>
                  </a:ln>
                  <a:solidFill>
                    <a:srgbClr val="0055A9"/>
                  </a:solidFill>
                  <a:effectLst/>
                  <a:uLnTx/>
                  <a:uFillTx/>
                  <a:latin typeface="微软雅黑" panose="020B0503020204020204" pitchFamily="34" charset="-122"/>
                  <a:ea typeface="+mn-ea"/>
                  <a:cs typeface="+mn-cs"/>
                </a:rPr>
                <a:t>奋斗 </a:t>
              </a:r>
              <a:r>
                <a:rPr kumimoji="0" lang="en-US" altLang="zh-CN" sz="1200" b="1" i="1" u="none" strike="noStrike" kern="1200" cap="none" spc="0" normalizeH="0" baseline="0" noProof="0" dirty="0">
                  <a:ln>
                    <a:noFill/>
                  </a:ln>
                  <a:solidFill>
                    <a:srgbClr val="0055A9"/>
                  </a:solidFill>
                  <a:effectLst/>
                  <a:uLnTx/>
                  <a:uFillTx/>
                  <a:latin typeface="微软雅黑" panose="020B0503020204020204" pitchFamily="34" charset="-122"/>
                  <a:ea typeface="+mn-ea"/>
                  <a:cs typeface="+mn-cs"/>
                </a:rPr>
                <a:t>· </a:t>
              </a:r>
              <a:r>
                <a:rPr kumimoji="0" lang="zh-CN" altLang="en-US" sz="1211" b="1" i="1" u="none" strike="noStrike" kern="1200" cap="none" spc="0" normalizeH="0" baseline="0" noProof="0" dirty="0">
                  <a:ln>
                    <a:noFill/>
                  </a:ln>
                  <a:solidFill>
                    <a:srgbClr val="0055A9"/>
                  </a:solidFill>
                  <a:effectLst/>
                  <a:uLnTx/>
                  <a:uFillTx/>
                  <a:latin typeface="微软雅黑" panose="020B0503020204020204" pitchFamily="34" charset="-122"/>
                  <a:ea typeface="+mn-ea"/>
                  <a:cs typeface="+mn-cs"/>
                </a:rPr>
                <a:t>进取</a:t>
              </a:r>
              <a:endParaRPr kumimoji="0" lang="zh-CN" altLang="en-US" sz="997" b="1" i="1" u="none" strike="noStrike" kern="1200" cap="none" spc="0" normalizeH="0" baseline="0" noProof="0" dirty="0">
                <a:ln>
                  <a:noFill/>
                </a:ln>
                <a:solidFill>
                  <a:srgbClr val="0055A9"/>
                </a:solidFill>
                <a:effectLst/>
                <a:uLnTx/>
                <a:uFillTx/>
                <a:latin typeface="微软雅黑" panose="020B0503020204020204" pitchFamily="34" charset="-122"/>
                <a:ea typeface="+mn-ea"/>
                <a:cs typeface="+mn-cs"/>
              </a:endParaRPr>
            </a:p>
          </p:txBody>
        </p:sp>
      </p:grpSp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11" t="25051" r="19595" b="25388"/>
          <a:stretch/>
        </p:blipFill>
        <p:spPr>
          <a:xfrm>
            <a:off x="11059583" y="101856"/>
            <a:ext cx="971550" cy="61325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35" y="-46719"/>
            <a:ext cx="1210153" cy="855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738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  <p:sldLayoutId id="2147483684" r:id="rId21"/>
    <p:sldLayoutId id="2147483685" r:id="rId22"/>
    <p:sldLayoutId id="2147483686" r:id="rId23"/>
    <p:sldLayoutId id="2147483687" r:id="rId24"/>
    <p:sldLayoutId id="2147483688" r:id="rId25"/>
    <p:sldLayoutId id="2147483689" r:id="rId26"/>
    <p:sldLayoutId id="2147483690" r:id="rId27"/>
  </p:sldLayoutIdLst>
  <p:transition>
    <p:fade/>
  </p:transition>
  <p:txStyles>
    <p:titleStyle>
      <a:lvl1pPr algn="ctr" defTabSz="927696" rtl="0" eaLnBrk="1" latinLnBrk="0" hangingPunct="1">
        <a:spcBef>
          <a:spcPct val="0"/>
        </a:spcBef>
        <a:buNone/>
        <a:defRPr sz="446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7886" indent="-347886" algn="l" defTabSz="927696" rtl="0" eaLnBrk="1" latinLnBrk="0" hangingPunct="1">
        <a:spcBef>
          <a:spcPct val="20000"/>
        </a:spcBef>
        <a:buFont typeface="Arial" pitchFamily="34" charset="0"/>
        <a:buChar char="•"/>
        <a:defRPr sz="3228" kern="1200">
          <a:solidFill>
            <a:schemeClr val="tx1"/>
          </a:solidFill>
          <a:latin typeface="+mn-lt"/>
          <a:ea typeface="+mn-ea"/>
          <a:cs typeface="+mn-cs"/>
        </a:defRPr>
      </a:lvl1pPr>
      <a:lvl2pPr marL="753753" indent="-289905" algn="l" defTabSz="927696" rtl="0" eaLnBrk="1" latinLnBrk="0" hangingPunct="1">
        <a:spcBef>
          <a:spcPct val="20000"/>
        </a:spcBef>
        <a:buFont typeface="Arial" pitchFamily="34" charset="0"/>
        <a:buChar char="–"/>
        <a:defRPr sz="2849" kern="1200">
          <a:solidFill>
            <a:schemeClr val="tx1"/>
          </a:solidFill>
          <a:latin typeface="+mn-lt"/>
          <a:ea typeface="+mn-ea"/>
          <a:cs typeface="+mn-cs"/>
        </a:defRPr>
      </a:lvl2pPr>
      <a:lvl3pPr marL="1159621" indent="-231924" algn="l" defTabSz="927696" rtl="0" eaLnBrk="1" latinLnBrk="0" hangingPunct="1">
        <a:spcBef>
          <a:spcPct val="20000"/>
        </a:spcBef>
        <a:buFont typeface="Arial" pitchFamily="34" charset="0"/>
        <a:buChar char="•"/>
        <a:defRPr sz="2469" kern="1200">
          <a:solidFill>
            <a:schemeClr val="tx1"/>
          </a:solidFill>
          <a:latin typeface="+mn-lt"/>
          <a:ea typeface="+mn-ea"/>
          <a:cs typeface="+mn-cs"/>
        </a:defRPr>
      </a:lvl3pPr>
      <a:lvl4pPr marL="1623468" indent="-231924" algn="l" defTabSz="927696" rtl="0" eaLnBrk="1" latinLnBrk="0" hangingPunct="1">
        <a:spcBef>
          <a:spcPct val="20000"/>
        </a:spcBef>
        <a:buFont typeface="Arial" pitchFamily="34" charset="0"/>
        <a:buChar char="–"/>
        <a:defRPr sz="1994" kern="1200">
          <a:solidFill>
            <a:schemeClr val="tx1"/>
          </a:solidFill>
          <a:latin typeface="+mn-lt"/>
          <a:ea typeface="+mn-ea"/>
          <a:cs typeface="+mn-cs"/>
        </a:defRPr>
      </a:lvl4pPr>
      <a:lvl5pPr marL="2087316" indent="-231924" algn="l" defTabSz="927696" rtl="0" eaLnBrk="1" latinLnBrk="0" hangingPunct="1">
        <a:spcBef>
          <a:spcPct val="20000"/>
        </a:spcBef>
        <a:buFont typeface="Arial" pitchFamily="34" charset="0"/>
        <a:buChar char="»"/>
        <a:defRPr sz="1994" kern="1200">
          <a:solidFill>
            <a:schemeClr val="tx1"/>
          </a:solidFill>
          <a:latin typeface="+mn-lt"/>
          <a:ea typeface="+mn-ea"/>
          <a:cs typeface="+mn-cs"/>
        </a:defRPr>
      </a:lvl5pPr>
      <a:lvl6pPr marL="2551164" indent="-231924" algn="l" defTabSz="927696" rtl="0" eaLnBrk="1" latinLnBrk="0" hangingPunct="1">
        <a:spcBef>
          <a:spcPct val="20000"/>
        </a:spcBef>
        <a:buFont typeface="Arial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6pPr>
      <a:lvl7pPr marL="3015012" indent="-231924" algn="l" defTabSz="927696" rtl="0" eaLnBrk="1" latinLnBrk="0" hangingPunct="1">
        <a:spcBef>
          <a:spcPct val="20000"/>
        </a:spcBef>
        <a:buFont typeface="Arial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7pPr>
      <a:lvl8pPr marL="3478861" indent="-231924" algn="l" defTabSz="927696" rtl="0" eaLnBrk="1" latinLnBrk="0" hangingPunct="1">
        <a:spcBef>
          <a:spcPct val="20000"/>
        </a:spcBef>
        <a:buFont typeface="Arial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8pPr>
      <a:lvl9pPr marL="3942709" indent="-231924" algn="l" defTabSz="927696" rtl="0" eaLnBrk="1" latinLnBrk="0" hangingPunct="1">
        <a:spcBef>
          <a:spcPct val="20000"/>
        </a:spcBef>
        <a:buFont typeface="Arial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27696" rtl="0" eaLnBrk="1" latinLnBrk="0" hangingPunct="1">
        <a:defRPr sz="1804" kern="1200">
          <a:solidFill>
            <a:schemeClr val="tx1"/>
          </a:solidFill>
          <a:latin typeface="+mn-lt"/>
          <a:ea typeface="+mn-ea"/>
          <a:cs typeface="+mn-cs"/>
        </a:defRPr>
      </a:lvl1pPr>
      <a:lvl2pPr marL="463848" algn="l" defTabSz="927696" rtl="0" eaLnBrk="1" latinLnBrk="0" hangingPunct="1">
        <a:defRPr sz="1804" kern="1200">
          <a:solidFill>
            <a:schemeClr val="tx1"/>
          </a:solidFill>
          <a:latin typeface="+mn-lt"/>
          <a:ea typeface="+mn-ea"/>
          <a:cs typeface="+mn-cs"/>
        </a:defRPr>
      </a:lvl2pPr>
      <a:lvl3pPr marL="927696" algn="l" defTabSz="927696" rtl="0" eaLnBrk="1" latinLnBrk="0" hangingPunct="1">
        <a:defRPr sz="1804" kern="1200">
          <a:solidFill>
            <a:schemeClr val="tx1"/>
          </a:solidFill>
          <a:latin typeface="+mn-lt"/>
          <a:ea typeface="+mn-ea"/>
          <a:cs typeface="+mn-cs"/>
        </a:defRPr>
      </a:lvl3pPr>
      <a:lvl4pPr marL="1391544" algn="l" defTabSz="927696" rtl="0" eaLnBrk="1" latinLnBrk="0" hangingPunct="1">
        <a:defRPr sz="1804" kern="1200">
          <a:solidFill>
            <a:schemeClr val="tx1"/>
          </a:solidFill>
          <a:latin typeface="+mn-lt"/>
          <a:ea typeface="+mn-ea"/>
          <a:cs typeface="+mn-cs"/>
        </a:defRPr>
      </a:lvl4pPr>
      <a:lvl5pPr marL="1855392" algn="l" defTabSz="927696" rtl="0" eaLnBrk="1" latinLnBrk="0" hangingPunct="1">
        <a:defRPr sz="1804" kern="1200">
          <a:solidFill>
            <a:schemeClr val="tx1"/>
          </a:solidFill>
          <a:latin typeface="+mn-lt"/>
          <a:ea typeface="+mn-ea"/>
          <a:cs typeface="+mn-cs"/>
        </a:defRPr>
      </a:lvl5pPr>
      <a:lvl6pPr marL="2319240" algn="l" defTabSz="927696" rtl="0" eaLnBrk="1" latinLnBrk="0" hangingPunct="1">
        <a:defRPr sz="1804" kern="1200">
          <a:solidFill>
            <a:schemeClr val="tx1"/>
          </a:solidFill>
          <a:latin typeface="+mn-lt"/>
          <a:ea typeface="+mn-ea"/>
          <a:cs typeface="+mn-cs"/>
        </a:defRPr>
      </a:lvl6pPr>
      <a:lvl7pPr marL="2783088" algn="l" defTabSz="927696" rtl="0" eaLnBrk="1" latinLnBrk="0" hangingPunct="1">
        <a:defRPr sz="1804" kern="1200">
          <a:solidFill>
            <a:schemeClr val="tx1"/>
          </a:solidFill>
          <a:latin typeface="+mn-lt"/>
          <a:ea typeface="+mn-ea"/>
          <a:cs typeface="+mn-cs"/>
        </a:defRPr>
      </a:lvl7pPr>
      <a:lvl8pPr marL="3246936" algn="l" defTabSz="927696" rtl="0" eaLnBrk="1" latinLnBrk="0" hangingPunct="1">
        <a:defRPr sz="1804" kern="1200">
          <a:solidFill>
            <a:schemeClr val="tx1"/>
          </a:solidFill>
          <a:latin typeface="+mn-lt"/>
          <a:ea typeface="+mn-ea"/>
          <a:cs typeface="+mn-cs"/>
        </a:defRPr>
      </a:lvl8pPr>
      <a:lvl9pPr marL="3710785" algn="l" defTabSz="927696" rtl="0" eaLnBrk="1" latinLnBrk="0" hangingPunct="1">
        <a:defRPr sz="180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4">
            <a:extLst>
              <a:ext uri="{FF2B5EF4-FFF2-40B4-BE49-F238E27FC236}">
                <a16:creationId xmlns:a16="http://schemas.microsoft.com/office/drawing/2014/main" id="{D2184420-2B54-4E5E-9B14-F3C1C4D2E594}"/>
              </a:ext>
            </a:extLst>
          </p:cNvPr>
          <p:cNvSpPr txBox="1"/>
          <p:nvPr/>
        </p:nvSpPr>
        <p:spPr bwMode="auto">
          <a:xfrm>
            <a:off x="608520" y="882467"/>
            <a:ext cx="11394183" cy="4589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设备故障频次分析</a:t>
            </a:r>
            <a:endParaRPr lang="en-US" altLang="zh-CN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52">
            <a:extLst>
              <a:ext uri="{FF2B5EF4-FFF2-40B4-BE49-F238E27FC236}">
                <a16:creationId xmlns:a16="http://schemas.microsoft.com/office/drawing/2014/main" id="{BC8895E6-8029-494C-A55C-4CD91080EEEA}"/>
              </a:ext>
            </a:extLst>
          </p:cNvPr>
          <p:cNvSpPr/>
          <p:nvPr/>
        </p:nvSpPr>
        <p:spPr>
          <a:xfrm>
            <a:off x="608519" y="5372409"/>
            <a:ext cx="11394183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小结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分析机运设备故障频次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Pareto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图，主要有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类故障：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Pallet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机械报错，传感器检测报错，驱动电气报错，尺寸监控报错，输送设备报错，其他报错。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Pallet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机械报错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传感器检测报错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频次占比达到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77.9%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，需要聚焦资源优先解决。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406D4CDF-C892-402A-8421-B06755BDE869}"/>
              </a:ext>
            </a:extLst>
          </p:cNvPr>
          <p:cNvSpPr/>
          <p:nvPr/>
        </p:nvSpPr>
        <p:spPr>
          <a:xfrm>
            <a:off x="608520" y="1296959"/>
            <a:ext cx="11394183" cy="578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  <a:defRPr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从机运数据系统中拉取</a:t>
            </a:r>
            <a:r>
              <a:rPr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6.1—6.20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号生产期间机运故障数据，根据报警信息划分故障类型，进行数据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13">
            <a:extLst>
              <a:ext uri="{FF2B5EF4-FFF2-40B4-BE49-F238E27FC236}">
                <a16:creationId xmlns:a16="http://schemas.microsoft.com/office/drawing/2014/main" id="{840FB254-8871-47AE-87FB-959FCE22F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080" y="1874301"/>
            <a:ext cx="5246398" cy="3499621"/>
          </a:xfrm>
          <a:prstGeom prst="rect">
            <a:avLst/>
          </a:prstGeom>
        </p:spPr>
      </p:pic>
      <p:sp>
        <p:nvSpPr>
          <p:cNvPr id="7" name="Rectangle: Rounded Corners 1">
            <a:extLst>
              <a:ext uri="{FF2B5EF4-FFF2-40B4-BE49-F238E27FC236}">
                <a16:creationId xmlns:a16="http://schemas.microsoft.com/office/drawing/2014/main" id="{D9AE87FC-0345-4738-AB74-F37ECECFE9B4}"/>
              </a:ext>
            </a:extLst>
          </p:cNvPr>
          <p:cNvSpPr/>
          <p:nvPr/>
        </p:nvSpPr>
        <p:spPr>
          <a:xfrm>
            <a:off x="3117261" y="4245096"/>
            <a:ext cx="1681018" cy="1079109"/>
          </a:xfrm>
          <a:prstGeom prst="round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D4FB58-950B-4D66-A031-36C3A835AC82}"/>
              </a:ext>
            </a:extLst>
          </p:cNvPr>
          <p:cNvSpPr txBox="1"/>
          <p:nvPr/>
        </p:nvSpPr>
        <p:spPr>
          <a:xfrm>
            <a:off x="2986123" y="152001"/>
            <a:ext cx="52116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车身机运关键数据智能追踪系统</a:t>
            </a:r>
          </a:p>
        </p:txBody>
      </p:sp>
    </p:spTree>
    <p:extLst>
      <p:ext uri="{BB962C8B-B14F-4D97-AF65-F5344CB8AC3E}">
        <p14:creationId xmlns:p14="http://schemas.microsoft.com/office/powerpoint/2010/main" val="108378188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4">
            <a:extLst>
              <a:ext uri="{FF2B5EF4-FFF2-40B4-BE49-F238E27FC236}">
                <a16:creationId xmlns:a16="http://schemas.microsoft.com/office/drawing/2014/main" id="{5B5DC9C0-8A12-4984-BB19-2A0FB9D8CDDE}"/>
              </a:ext>
            </a:extLst>
          </p:cNvPr>
          <p:cNvSpPr txBox="1"/>
          <p:nvPr/>
        </p:nvSpPr>
        <p:spPr bwMode="auto">
          <a:xfrm>
            <a:off x="608520" y="882467"/>
            <a:ext cx="11394183" cy="4589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人工处理工时分析</a:t>
            </a:r>
          </a:p>
        </p:txBody>
      </p:sp>
      <p:sp>
        <p:nvSpPr>
          <p:cNvPr id="4" name="Rectangle 52">
            <a:extLst>
              <a:ext uri="{FF2B5EF4-FFF2-40B4-BE49-F238E27FC236}">
                <a16:creationId xmlns:a16="http://schemas.microsoft.com/office/drawing/2014/main" id="{9D50AF94-5B2D-47E8-AE96-19060277BDCF}"/>
              </a:ext>
            </a:extLst>
          </p:cNvPr>
          <p:cNvSpPr/>
          <p:nvPr/>
        </p:nvSpPr>
        <p:spPr>
          <a:xfrm>
            <a:off x="608520" y="5132764"/>
            <a:ext cx="11394183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小结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Pallet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机械报错故障人工处理工时存在异常点，调查原因为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Pallet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机械故障无法在线修复，需人工下线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Pallet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修复，导致人工处理工时异常增加，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人工下线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Pallet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处理工时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需要研究攻关。</a:t>
            </a:r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尺寸监控报错人工处理工时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均值和中位数偏高，此类故障处理时间较长，需要重点解决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F12D778-870D-4A37-B753-E80C3D366642}"/>
              </a:ext>
            </a:extLst>
          </p:cNvPr>
          <p:cNvSpPr/>
          <p:nvPr/>
        </p:nvSpPr>
        <p:spPr>
          <a:xfrm>
            <a:off x="608520" y="1296959"/>
            <a:ext cx="11394183" cy="578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  <a:defRPr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从机运数据系统中拉取</a:t>
            </a:r>
            <a:r>
              <a:rPr lang="en-US" altLang="zh-CN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6.1—6.20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号生产期间机运故障人工处理工时数据，进行统计分析。</a:t>
            </a: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B2B1F862-656B-4423-A79D-1ED59C3A6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484" y="1875813"/>
            <a:ext cx="6090663" cy="3530427"/>
          </a:xfrm>
          <a:prstGeom prst="rect">
            <a:avLst/>
          </a:prstGeom>
        </p:spPr>
      </p:pic>
      <p:sp>
        <p:nvSpPr>
          <p:cNvPr id="7" name="Rectangle 8">
            <a:extLst>
              <a:ext uri="{FF2B5EF4-FFF2-40B4-BE49-F238E27FC236}">
                <a16:creationId xmlns:a16="http://schemas.microsoft.com/office/drawing/2014/main" id="{599C9168-63EB-4085-8A4B-7E43C437D64D}"/>
              </a:ext>
            </a:extLst>
          </p:cNvPr>
          <p:cNvSpPr/>
          <p:nvPr/>
        </p:nvSpPr>
        <p:spPr>
          <a:xfrm>
            <a:off x="3566445" y="2410251"/>
            <a:ext cx="517237" cy="1616363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A1E56056-3A96-4A84-B86A-C5DFA85E44AD}"/>
              </a:ext>
            </a:extLst>
          </p:cNvPr>
          <p:cNvSpPr/>
          <p:nvPr/>
        </p:nvSpPr>
        <p:spPr>
          <a:xfrm>
            <a:off x="4320570" y="2836421"/>
            <a:ext cx="628073" cy="932873"/>
          </a:xfrm>
          <a:prstGeom prst="ellipse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B9DC6D0-E5F5-4C6F-AB75-80F3C375ABC3}"/>
              </a:ext>
            </a:extLst>
          </p:cNvPr>
          <p:cNvSpPr txBox="1"/>
          <p:nvPr/>
        </p:nvSpPr>
        <p:spPr>
          <a:xfrm>
            <a:off x="2986123" y="152001"/>
            <a:ext cx="52116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车身机运关键数据智能追踪系统</a:t>
            </a:r>
          </a:p>
        </p:txBody>
      </p:sp>
    </p:spTree>
    <p:extLst>
      <p:ext uri="{BB962C8B-B14F-4D97-AF65-F5344CB8AC3E}">
        <p14:creationId xmlns:p14="http://schemas.microsoft.com/office/powerpoint/2010/main" val="3264892945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4">
            <a:extLst>
              <a:ext uri="{FF2B5EF4-FFF2-40B4-BE49-F238E27FC236}">
                <a16:creationId xmlns:a16="http://schemas.microsoft.com/office/drawing/2014/main" id="{0977F110-5032-4847-89B8-D67B8A7F3298}"/>
              </a:ext>
            </a:extLst>
          </p:cNvPr>
          <p:cNvSpPr txBox="1"/>
          <p:nvPr/>
        </p:nvSpPr>
        <p:spPr bwMode="auto">
          <a:xfrm>
            <a:off x="606851" y="852196"/>
            <a:ext cx="11394183" cy="4589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Pallet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结构设计缺陷导致</a:t>
            </a:r>
            <a:r>
              <a:rPr lang="zh-CN" altLang="en-US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机械故障频次高</a:t>
            </a: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A2E8CDCC-5D63-4047-933E-373FC6D780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57411"/>
              </p:ext>
            </p:extLst>
          </p:nvPr>
        </p:nvGraphicFramePr>
        <p:xfrm>
          <a:off x="606851" y="1535613"/>
          <a:ext cx="10929138" cy="2546860"/>
        </p:xfrm>
        <a:graphic>
          <a:graphicData uri="http://schemas.openxmlformats.org/drawingml/2006/table">
            <a:tbl>
              <a:tblPr/>
              <a:tblGrid>
                <a:gridCol w="889211">
                  <a:extLst>
                    <a:ext uri="{9D8B030D-6E8A-4147-A177-3AD203B41FA5}">
                      <a16:colId xmlns:a16="http://schemas.microsoft.com/office/drawing/2014/main" val="1939175458"/>
                    </a:ext>
                  </a:extLst>
                </a:gridCol>
                <a:gridCol w="30387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3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37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37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9083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目标：改进</a:t>
                      </a:r>
                      <a:r>
                        <a:rPr lang="en-US" altLang="zh-CN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Pallet</a:t>
                      </a:r>
                      <a:r>
                        <a:rPr lang="zh-CN" altLang="en-US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结构，降低故障频次</a:t>
                      </a:r>
                      <a:endParaRPr lang="en-US" sz="1200" b="1" i="0" u="none" strike="noStrike" baseline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baseline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zh-CN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0</a:t>
                      </a:r>
                    </a:p>
                    <a:p>
                      <a:pPr marL="0" marR="0" lvl="0" indent="0" algn="ctr" defTabSz="72566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Pallet</a:t>
                      </a:r>
                      <a:r>
                        <a:rPr lang="zh-CN" altLang="en-US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勾销缸增加外置防飞溅挡板</a:t>
                      </a:r>
                      <a:endParaRPr lang="en-US" altLang="zh-CN" sz="1200" b="1" i="0" u="none" strike="noStrike" baseline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72566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1</a:t>
                      </a:r>
                    </a:p>
                    <a:p>
                      <a:pPr marL="0" marR="0" lvl="0" indent="0" algn="ctr" defTabSz="72566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增加自动吹扫装置</a:t>
                      </a:r>
                      <a:endParaRPr lang="en-US" altLang="zh-CN" sz="1200" b="1" i="0" u="none" strike="noStrike" baseline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72566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2</a:t>
                      </a:r>
                    </a:p>
                    <a:p>
                      <a:pPr marL="0" marR="0" lvl="0" indent="0" algn="ctr" defTabSz="725668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勾销缸内部改造，增加防飞溅卡片</a:t>
                      </a:r>
                      <a:endParaRPr lang="en-US" altLang="zh-CN" sz="1200" b="1" i="0" u="none" strike="noStrike" baseline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6028"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200" b="1" i="0" u="none" strike="noStrike" baseline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序号</a:t>
                      </a:r>
                      <a:endParaRPr lang="en-US" sz="1200" b="1" i="0" u="none" strike="noStrike" baseline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200" b="1" i="0" u="none" strike="noStrike" baseline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880099"/>
                  </a:ext>
                </a:extLst>
              </a:tr>
              <a:tr h="40908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zh-CN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1</a:t>
                      </a:r>
                      <a:endParaRPr lang="en-US" sz="1200" b="0" i="0" u="none" strike="noStrike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zh-CN" alt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成本</a:t>
                      </a:r>
                      <a:endParaRPr lang="en-US" sz="1200" b="0" i="0" u="none" strike="noStrike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单价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单价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5000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单价</a:t>
                      </a:r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200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3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zh-CN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</a:t>
                      </a:r>
                      <a:endParaRPr lang="en-US" sz="1200" b="0" i="0" u="none" strike="noStrike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zh-CN" alt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风险</a:t>
                      </a:r>
                      <a:endParaRPr lang="en-US" sz="1200" b="0" i="0" u="none" strike="noStrike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中风险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高风险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低风险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33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zh-CN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3</a:t>
                      </a:r>
                      <a:endParaRPr lang="en-US" sz="1200" b="0" i="0" u="none" strike="noStrike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zh-CN" alt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时间</a:t>
                      </a:r>
                      <a:endParaRPr lang="en-US" sz="1200" b="0" i="0" u="none" strike="noStrike" kern="1200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个月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6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个月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r>
                        <a:rPr lang="zh-CN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个月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5244255"/>
                  </a:ext>
                </a:extLst>
              </a:tr>
            </a:tbl>
          </a:graphicData>
        </a:graphic>
      </p:graphicFrame>
      <p:sp>
        <p:nvSpPr>
          <p:cNvPr id="5" name="Rectangle 6">
            <a:extLst>
              <a:ext uri="{FF2B5EF4-FFF2-40B4-BE49-F238E27FC236}">
                <a16:creationId xmlns:a16="http://schemas.microsoft.com/office/drawing/2014/main" id="{824088C7-F6EC-4F97-936E-C0A90ABD426C}"/>
              </a:ext>
            </a:extLst>
          </p:cNvPr>
          <p:cNvSpPr/>
          <p:nvPr/>
        </p:nvSpPr>
        <p:spPr>
          <a:xfrm>
            <a:off x="3200733" y="2029185"/>
            <a:ext cx="1237673" cy="336695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36000" rIns="36000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成功标准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609B623-C86D-4214-964B-4E592F301CDB}"/>
              </a:ext>
            </a:extLst>
          </p:cNvPr>
          <p:cNvSpPr/>
          <p:nvPr/>
        </p:nvSpPr>
        <p:spPr>
          <a:xfrm>
            <a:off x="1564384" y="2345554"/>
            <a:ext cx="1237673" cy="336695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36000" rIns="36000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可选方案</a:t>
            </a: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73F00491-E281-4679-AD77-D6CD6E45412F}"/>
              </a:ext>
            </a:extLst>
          </p:cNvPr>
          <p:cNvSpPr/>
          <p:nvPr/>
        </p:nvSpPr>
        <p:spPr>
          <a:xfrm>
            <a:off x="606850" y="4770340"/>
            <a:ext cx="11394183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方案选择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方案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与方案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需要增加较多硬件设备，成本较高；方案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需要增加吹扫装置和相应电气控制设备，改造风险较高，且改造时间最长；综合考虑，方案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勾销缸内部改造，增加防飞溅卡片的改进，为最优方案</a:t>
            </a:r>
          </a:p>
          <a:p>
            <a:pPr>
              <a:lnSpc>
                <a:spcPct val="150000"/>
              </a:lnSpc>
            </a:pP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11E8A2BE-EFF8-41C9-8672-BA3CEAA0D54D}"/>
              </a:ext>
            </a:extLst>
          </p:cNvPr>
          <p:cNvSpPr/>
          <p:nvPr/>
        </p:nvSpPr>
        <p:spPr>
          <a:xfrm>
            <a:off x="9199418" y="1535613"/>
            <a:ext cx="2336571" cy="2546860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36000" rIns="36000" rtlCol="0" anchor="ctr">
            <a:spAutoFit/>
          </a:bodyPr>
          <a:lstStyle/>
          <a:p>
            <a:pPr algn="ctr">
              <a:lnSpc>
                <a:spcPct val="150000"/>
              </a:lnSpc>
            </a:pPr>
            <a:endParaRPr lang="zh-CN" altLang="en-US" sz="1200" b="1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9" name="Rectangle 10">
            <a:extLst>
              <a:ext uri="{FF2B5EF4-FFF2-40B4-BE49-F238E27FC236}">
                <a16:creationId xmlns:a16="http://schemas.microsoft.com/office/drawing/2014/main" id="{64801DB3-A3E3-4CB2-B295-BC709DF88EB5}"/>
              </a:ext>
            </a:extLst>
          </p:cNvPr>
          <p:cNvSpPr/>
          <p:nvPr/>
        </p:nvSpPr>
        <p:spPr>
          <a:xfrm>
            <a:off x="9790430" y="4258059"/>
            <a:ext cx="1154545" cy="336695"/>
          </a:xfrm>
          <a:prstGeom prst="rect">
            <a:avLst/>
          </a:prstGeom>
          <a:solidFill>
            <a:srgbClr val="00B050"/>
          </a:solidFill>
          <a:ln w="28575">
            <a:solidFill>
              <a:srgbClr val="33CC33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36000" rIns="36000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最优方案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FBD18B-5884-4DAD-B85E-6D36199010FA}"/>
              </a:ext>
            </a:extLst>
          </p:cNvPr>
          <p:cNvSpPr txBox="1"/>
          <p:nvPr/>
        </p:nvSpPr>
        <p:spPr>
          <a:xfrm>
            <a:off x="2986123" y="152001"/>
            <a:ext cx="52116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车身机运关键数据智能追踪系统</a:t>
            </a:r>
          </a:p>
        </p:txBody>
      </p:sp>
    </p:spTree>
    <p:extLst>
      <p:ext uri="{BB962C8B-B14F-4D97-AF65-F5344CB8AC3E}">
        <p14:creationId xmlns:p14="http://schemas.microsoft.com/office/powerpoint/2010/main" val="1464832408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3">
            <a:extLst>
              <a:ext uri="{FF2B5EF4-FFF2-40B4-BE49-F238E27FC236}">
                <a16:creationId xmlns:a16="http://schemas.microsoft.com/office/drawing/2014/main" id="{2AC8506D-C61C-41A3-AD02-227A9BFAA7D3}"/>
              </a:ext>
            </a:extLst>
          </p:cNvPr>
          <p:cNvSpPr txBox="1"/>
          <p:nvPr/>
        </p:nvSpPr>
        <p:spPr bwMode="auto">
          <a:xfrm>
            <a:off x="606851" y="852196"/>
            <a:ext cx="11394183" cy="4589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  <a:defRPr/>
            </a:pPr>
            <a:r>
              <a:rPr lang="zh-CN" altLang="en-US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机运设备故障锁定手段缺乏导致传感器检测报错频次高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A0C930F-D62D-46EC-A8F6-2922C1D8E6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327272"/>
              </p:ext>
            </p:extLst>
          </p:nvPr>
        </p:nvGraphicFramePr>
        <p:xfrm>
          <a:off x="606851" y="1455569"/>
          <a:ext cx="11064241" cy="2839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5731">
                  <a:extLst>
                    <a:ext uri="{9D8B030D-6E8A-4147-A177-3AD203B41FA5}">
                      <a16:colId xmlns:a16="http://schemas.microsoft.com/office/drawing/2014/main" val="1321830459"/>
                    </a:ext>
                  </a:extLst>
                </a:gridCol>
                <a:gridCol w="1735702">
                  <a:extLst>
                    <a:ext uri="{9D8B030D-6E8A-4147-A177-3AD203B41FA5}">
                      <a16:colId xmlns:a16="http://schemas.microsoft.com/office/drawing/2014/main" val="2550020212"/>
                    </a:ext>
                  </a:extLst>
                </a:gridCol>
                <a:gridCol w="1735702">
                  <a:extLst>
                    <a:ext uri="{9D8B030D-6E8A-4147-A177-3AD203B41FA5}">
                      <a16:colId xmlns:a16="http://schemas.microsoft.com/office/drawing/2014/main" val="17886928"/>
                    </a:ext>
                  </a:extLst>
                </a:gridCol>
                <a:gridCol w="1735702">
                  <a:extLst>
                    <a:ext uri="{9D8B030D-6E8A-4147-A177-3AD203B41FA5}">
                      <a16:colId xmlns:a16="http://schemas.microsoft.com/office/drawing/2014/main" val="3530062804"/>
                    </a:ext>
                  </a:extLst>
                </a:gridCol>
                <a:gridCol w="1735702">
                  <a:extLst>
                    <a:ext uri="{9D8B030D-6E8A-4147-A177-3AD203B41FA5}">
                      <a16:colId xmlns:a16="http://schemas.microsoft.com/office/drawing/2014/main" val="3954428750"/>
                    </a:ext>
                  </a:extLst>
                </a:gridCol>
                <a:gridCol w="1735702">
                  <a:extLst>
                    <a:ext uri="{9D8B030D-6E8A-4147-A177-3AD203B41FA5}">
                      <a16:colId xmlns:a16="http://schemas.microsoft.com/office/drawing/2014/main" val="389446985"/>
                    </a:ext>
                  </a:extLst>
                </a:gridCol>
              </a:tblGrid>
              <a:tr h="702320">
                <a:tc>
                  <a:txBody>
                    <a:bodyPr/>
                    <a:lstStyle/>
                    <a:p>
                      <a:pPr algn="ctr"/>
                      <a:endParaRPr lang="en-US" sz="1600" u="none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可操作性</a:t>
                      </a:r>
                      <a:endParaRPr lang="en-US" altLang="zh-CN" sz="1400" u="none" baseline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（</a:t>
                      </a:r>
                      <a:r>
                        <a:rPr lang="en-US" altLang="zh-CN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0.2</a:t>
                      </a:r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）</a:t>
                      </a:r>
                      <a:endParaRPr lang="en-US" sz="1400" u="none" baseline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开发难度</a:t>
                      </a:r>
                      <a:endParaRPr lang="en-US" altLang="zh-CN" sz="1400" u="none" baseline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（</a:t>
                      </a:r>
                      <a:r>
                        <a:rPr lang="en-US" altLang="zh-CN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0.2</a:t>
                      </a:r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）</a:t>
                      </a:r>
                      <a:endParaRPr lang="en-US" sz="1400" u="none" baseline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357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人力成本</a:t>
                      </a:r>
                      <a:endParaRPr lang="en-US" altLang="zh-CN" sz="1400" u="none" baseline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ctr" defTabSz="5357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（</a:t>
                      </a:r>
                      <a:r>
                        <a:rPr lang="en-US" altLang="zh-CN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0.3</a:t>
                      </a:r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）</a:t>
                      </a:r>
                      <a:endParaRPr lang="en-US" sz="1400" u="none" baseline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357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实施效果</a:t>
                      </a:r>
                      <a:endParaRPr lang="en-US" altLang="zh-CN" sz="1400" u="none" baseline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  <a:p>
                      <a:pPr marL="0" marR="0" lvl="0" indent="0" algn="ctr" defTabSz="5357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（</a:t>
                      </a:r>
                      <a:r>
                        <a:rPr lang="en-US" altLang="zh-CN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0.3</a:t>
                      </a:r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）</a:t>
                      </a:r>
                      <a:endParaRPr lang="en-US" sz="1400" u="none" baseline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357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400" u="none" baseline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合计</a:t>
                      </a:r>
                      <a:endParaRPr lang="en-US" sz="1400" u="none" baseline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5D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084901"/>
                  </a:ext>
                </a:extLst>
              </a:tr>
              <a:tr h="7123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现有方案：</a:t>
                      </a:r>
                      <a:endParaRPr lang="en-US" altLang="zh-CN" sz="12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en-US" altLang="zh-CN" sz="12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Pallet</a:t>
                      </a:r>
                      <a:r>
                        <a:rPr lang="zh-CN" altLang="en-US" sz="12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感应块无差别调整</a:t>
                      </a:r>
                      <a:endParaRPr lang="en-US" sz="12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3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9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1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1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3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6935821"/>
                  </a:ext>
                </a:extLst>
              </a:tr>
              <a:tr h="7123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改进方案一：</a:t>
                      </a:r>
                      <a:endParaRPr lang="en-US" altLang="zh-CN" sz="12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2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人工记录报错信息，锁定机运故障，针对性调整</a:t>
                      </a:r>
                      <a:endParaRPr lang="en-US" sz="12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3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9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3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9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6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9026048"/>
                  </a:ext>
                </a:extLst>
              </a:tr>
              <a:tr h="7123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改进方案二：</a:t>
                      </a:r>
                      <a:endParaRPr lang="en-US" altLang="zh-CN" sz="12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  <a:p>
                      <a:pPr algn="ctr"/>
                      <a:r>
                        <a:rPr lang="zh-CN" altLang="en-US" sz="12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自动记录报错信息，锁定机运故障，针对性调整</a:t>
                      </a:r>
                      <a:endParaRPr lang="en-US" sz="12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9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3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9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9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aseline="0" dirty="0">
                          <a:latin typeface="Arial" panose="020B0604020202020204" pitchFamily="34" charset="0"/>
                          <a:ea typeface="微软雅黑" panose="020B0503020204020204" pitchFamily="34" charset="-122"/>
                        </a:rPr>
                        <a:t>7.8</a:t>
                      </a:r>
                      <a:endParaRPr lang="en-US" sz="1400" baseline="0" dirty="0">
                        <a:latin typeface="Arial" panose="020B0604020202020204" pitchFamily="34" charset="0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288073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CF04D1FC-6660-4CF9-9398-7269A7C9F4F4}"/>
              </a:ext>
            </a:extLst>
          </p:cNvPr>
          <p:cNvSpPr/>
          <p:nvPr/>
        </p:nvSpPr>
        <p:spPr>
          <a:xfrm>
            <a:off x="4590473" y="4361762"/>
            <a:ext cx="2346036" cy="418191"/>
          </a:xfrm>
          <a:prstGeom prst="rect">
            <a:avLst/>
          </a:prstGeom>
          <a:ln w="28575"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36000" rIns="36000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改进方案评价矩阵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DBB9371-2E0D-4CCC-ADD3-20EFE94583EF}"/>
              </a:ext>
            </a:extLst>
          </p:cNvPr>
          <p:cNvSpPr/>
          <p:nvPr/>
        </p:nvSpPr>
        <p:spPr>
          <a:xfrm>
            <a:off x="491000" y="1778965"/>
            <a:ext cx="1237673" cy="377411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36000" rIns="36000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方案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7E9A0E1F-B1E8-40BF-B61E-D4CFA7466FF7}"/>
              </a:ext>
            </a:extLst>
          </p:cNvPr>
          <p:cNvSpPr/>
          <p:nvPr/>
        </p:nvSpPr>
        <p:spPr>
          <a:xfrm>
            <a:off x="1541292" y="1468358"/>
            <a:ext cx="1237673" cy="377411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36000" rIns="36000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指标与权重</a:t>
            </a:r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EFE59BCC-455F-4DAC-9E6C-1BC5B87FA5B6}"/>
              </a:ext>
            </a:extLst>
          </p:cNvPr>
          <p:cNvSpPr/>
          <p:nvPr/>
        </p:nvSpPr>
        <p:spPr>
          <a:xfrm>
            <a:off x="606850" y="4650270"/>
            <a:ext cx="11394183" cy="19851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评价矩阵分析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现有方案得分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=3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0.2+9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0.2+1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0.3+1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0.3=3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改进方案一得分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=3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0.2+9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0.2+3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0.3+9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0.3=6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改进方案二得分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=9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0.2+3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0.2+9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0.3+9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*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0.3=7.8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通过评价矩阵方案，最优方案为方案二机运报错自动记录，快速锁定故障，针对性调整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AE834E-68A6-4E67-885F-B156C7178AFC}"/>
              </a:ext>
            </a:extLst>
          </p:cNvPr>
          <p:cNvSpPr txBox="1"/>
          <p:nvPr/>
        </p:nvSpPr>
        <p:spPr>
          <a:xfrm>
            <a:off x="2986123" y="152001"/>
            <a:ext cx="52116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车身机运关键数据智能追踪系统</a:t>
            </a:r>
          </a:p>
        </p:txBody>
      </p:sp>
    </p:spTree>
    <p:extLst>
      <p:ext uri="{BB962C8B-B14F-4D97-AF65-F5344CB8AC3E}">
        <p14:creationId xmlns:p14="http://schemas.microsoft.com/office/powerpoint/2010/main" val="42414676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0EBB0B3-B589-4A1C-8D94-80022D858169}"/>
              </a:ext>
            </a:extLst>
          </p:cNvPr>
          <p:cNvSpPr txBox="1"/>
          <p:nvPr/>
        </p:nvSpPr>
        <p:spPr>
          <a:xfrm>
            <a:off x="741534" y="1120591"/>
            <a:ext cx="11254771" cy="1704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zh-CN" altLang="en-US" sz="1800" dirty="0"/>
              <a:t>北厂车身车间</a:t>
            </a:r>
            <a:r>
              <a:rPr lang="zh-CN" altLang="en-US" sz="1800" dirty="0">
                <a:solidFill>
                  <a:srgbClr val="FF0000"/>
                </a:solidFill>
              </a:rPr>
              <a:t>共有伺服焊枪焊接机器人</a:t>
            </a:r>
            <a:r>
              <a:rPr lang="en-US" altLang="zh-CN" sz="1800" dirty="0">
                <a:solidFill>
                  <a:srgbClr val="FF0000"/>
                </a:solidFill>
              </a:rPr>
              <a:t>700</a:t>
            </a:r>
            <a:r>
              <a:rPr lang="zh-CN" altLang="en-US" sz="1800" dirty="0">
                <a:solidFill>
                  <a:srgbClr val="FF0000"/>
                </a:solidFill>
              </a:rPr>
              <a:t>余台</a:t>
            </a:r>
            <a:r>
              <a:rPr lang="zh-CN" altLang="en-US" sz="1800" dirty="0">
                <a:sym typeface="微软雅黑" pitchFamily="34" charset="-122"/>
              </a:rPr>
              <a:t>，部分伺服马达还未到</a:t>
            </a:r>
            <a:r>
              <a:rPr lang="en-US" altLang="zh-CN" sz="1800" dirty="0">
                <a:sym typeface="微软雅黑" pitchFamily="34" charset="-122"/>
              </a:rPr>
              <a:t>1000W</a:t>
            </a:r>
            <a:r>
              <a:rPr lang="zh-CN" altLang="en-US" sz="1800" dirty="0">
                <a:sym typeface="微软雅黑" pitchFamily="34" charset="-122"/>
              </a:rPr>
              <a:t>次就出现马达轴卡死、丝杠磨损、马达轴晃动、压力衰减等故障。</a:t>
            </a:r>
            <a:endParaRPr lang="en-US" altLang="zh-CN" sz="1800" dirty="0">
              <a:sym typeface="微软雅黑" pitchFamily="34" charset="-122"/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zh-CN" altLang="en-US" sz="1800" dirty="0">
                <a:sym typeface="微软雅黑" pitchFamily="34" charset="-122"/>
              </a:rPr>
              <a:t>车间需要对马达扭矩进行监控以提前判断焊枪马达状态，针对状态异常马达提前更换，减少现场停机。据统计，每次因焊枪马达故障导致的停机，</a:t>
            </a:r>
            <a:r>
              <a:rPr lang="zh-CN" altLang="en-US" sz="1800" dirty="0">
                <a:solidFill>
                  <a:srgbClr val="FF0000"/>
                </a:solidFill>
                <a:sym typeface="微软雅黑" pitchFamily="34" charset="-122"/>
              </a:rPr>
              <a:t>平均耗时在</a:t>
            </a:r>
            <a:r>
              <a:rPr lang="en-US" altLang="zh-CN" sz="1800" dirty="0">
                <a:solidFill>
                  <a:srgbClr val="FF0000"/>
                </a:solidFill>
                <a:sym typeface="微软雅黑" pitchFamily="34" charset="-122"/>
              </a:rPr>
              <a:t>55</a:t>
            </a:r>
            <a:r>
              <a:rPr lang="zh-CN" altLang="en-US" sz="1800" dirty="0">
                <a:solidFill>
                  <a:srgbClr val="FF0000"/>
                </a:solidFill>
                <a:sym typeface="微软雅黑" pitchFamily="34" charset="-122"/>
              </a:rPr>
              <a:t>分钟以上</a:t>
            </a:r>
            <a:r>
              <a:rPr lang="zh-CN" altLang="en-US" sz="1800" dirty="0">
                <a:sym typeface="微软雅黑" pitchFamily="34" charset="-122"/>
              </a:rPr>
              <a:t>。</a:t>
            </a:r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448CD54-DFCF-4E5A-A3FA-04BD99BF1BC1}"/>
              </a:ext>
            </a:extLst>
          </p:cNvPr>
          <p:cNvSpPr/>
          <p:nvPr/>
        </p:nvSpPr>
        <p:spPr>
          <a:xfrm>
            <a:off x="1180270" y="3349426"/>
            <a:ext cx="1131859" cy="1495721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3171471-504B-48EF-837F-648EB391F878}"/>
              </a:ext>
            </a:extLst>
          </p:cNvPr>
          <p:cNvSpPr/>
          <p:nvPr/>
        </p:nvSpPr>
        <p:spPr>
          <a:xfrm>
            <a:off x="2127570" y="3349426"/>
            <a:ext cx="1262067" cy="1495721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0281EF3-085C-4C54-89EF-A58E6F7D14DD}"/>
              </a:ext>
            </a:extLst>
          </p:cNvPr>
          <p:cNvSpPr/>
          <p:nvPr/>
        </p:nvSpPr>
        <p:spPr>
          <a:xfrm>
            <a:off x="1180270" y="5625237"/>
            <a:ext cx="1131859" cy="16497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05C3C07-0E79-49B1-A579-C09BE61054DC}"/>
              </a:ext>
            </a:extLst>
          </p:cNvPr>
          <p:cNvSpPr/>
          <p:nvPr/>
        </p:nvSpPr>
        <p:spPr>
          <a:xfrm>
            <a:off x="2127570" y="5442059"/>
            <a:ext cx="1262068" cy="175759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流程图: 延期 9">
            <a:extLst>
              <a:ext uri="{FF2B5EF4-FFF2-40B4-BE49-F238E27FC236}">
                <a16:creationId xmlns:a16="http://schemas.microsoft.com/office/drawing/2014/main" id="{CF7BAF55-FEAD-47DF-9776-11C3BA08237A}"/>
              </a:ext>
            </a:extLst>
          </p:cNvPr>
          <p:cNvSpPr/>
          <p:nvPr/>
        </p:nvSpPr>
        <p:spPr>
          <a:xfrm rot="5400000">
            <a:off x="2118215" y="5271870"/>
            <a:ext cx="184558" cy="143740"/>
          </a:xfrm>
          <a:prstGeom prst="flowChartDelay">
            <a:avLst/>
          </a:prstGeom>
          <a:solidFill>
            <a:srgbClr val="FFC00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流程图: 延期 10">
            <a:extLst>
              <a:ext uri="{FF2B5EF4-FFF2-40B4-BE49-F238E27FC236}">
                <a16:creationId xmlns:a16="http://schemas.microsoft.com/office/drawing/2014/main" id="{2C3403DC-3FD1-4D11-8B03-99A76365B18E}"/>
              </a:ext>
            </a:extLst>
          </p:cNvPr>
          <p:cNvSpPr/>
          <p:nvPr/>
        </p:nvSpPr>
        <p:spPr>
          <a:xfrm rot="16200000">
            <a:off x="2118215" y="5818042"/>
            <a:ext cx="184558" cy="143740"/>
          </a:xfrm>
          <a:prstGeom prst="flowChartDelay">
            <a:avLst/>
          </a:prstGeom>
          <a:solidFill>
            <a:srgbClr val="FFC00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箭头: 上 11">
            <a:extLst>
              <a:ext uri="{FF2B5EF4-FFF2-40B4-BE49-F238E27FC236}">
                <a16:creationId xmlns:a16="http://schemas.microsoft.com/office/drawing/2014/main" id="{63DABF3F-13BB-478D-9CE5-3EEE9B03F193}"/>
              </a:ext>
            </a:extLst>
          </p:cNvPr>
          <p:cNvSpPr/>
          <p:nvPr/>
        </p:nvSpPr>
        <p:spPr>
          <a:xfrm>
            <a:off x="2169104" y="5997030"/>
            <a:ext cx="77183" cy="184558"/>
          </a:xfrm>
          <a:prstGeom prst="upArrow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箭头: 上 12">
            <a:extLst>
              <a:ext uri="{FF2B5EF4-FFF2-40B4-BE49-F238E27FC236}">
                <a16:creationId xmlns:a16="http://schemas.microsoft.com/office/drawing/2014/main" id="{3EFB2C84-B594-4F4F-BE6B-4C5DDDF79B75}"/>
              </a:ext>
            </a:extLst>
          </p:cNvPr>
          <p:cNvSpPr/>
          <p:nvPr/>
        </p:nvSpPr>
        <p:spPr>
          <a:xfrm rot="10800000">
            <a:off x="2169103" y="5063883"/>
            <a:ext cx="77183" cy="184558"/>
          </a:xfrm>
          <a:prstGeom prst="upArrow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A1E7C087-FDB7-45CB-BC17-0A68EE4E39E0}"/>
              </a:ext>
            </a:extLst>
          </p:cNvPr>
          <p:cNvSpPr/>
          <p:nvPr/>
        </p:nvSpPr>
        <p:spPr>
          <a:xfrm>
            <a:off x="2134991" y="3652190"/>
            <a:ext cx="164149" cy="184558"/>
          </a:xfrm>
          <a:prstGeom prst="ellipse">
            <a:avLst/>
          </a:prstGeom>
          <a:solidFill>
            <a:srgbClr val="FFC00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5" name="Picture 8">
            <a:extLst>
              <a:ext uri="{FF2B5EF4-FFF2-40B4-BE49-F238E27FC236}">
                <a16:creationId xmlns:a16="http://schemas.microsoft.com/office/drawing/2014/main" id="{9E3BEA7C-6709-4943-A2D3-0CE53C1EF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3038" y="4765407"/>
            <a:ext cx="1659715" cy="1734500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361C9D5E-DD2F-4CED-9BD2-5F5ED6922661}"/>
              </a:ext>
            </a:extLst>
          </p:cNvPr>
          <p:cNvSpPr txBox="1"/>
          <p:nvPr/>
        </p:nvSpPr>
        <p:spPr>
          <a:xfrm>
            <a:off x="3657592" y="3429000"/>
            <a:ext cx="4636867" cy="2119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伺服焊枪通过伺服马达和涡轮蜗杆控制加压力。伺服焊枪长期使用后涡轮蜗杆附着异物加剧磨损，其表面变粗糙，要输出相同的加压力，涡轮蜗杆运行过程中受到的摩擦力会增大，伺服马达的扭矩也会因此增大。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A6372A0-EED6-4814-9E73-1A32C4A73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995" y="2606636"/>
            <a:ext cx="3212870" cy="2091109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DCEFA01-40C1-424A-B211-03C7BF80A694}"/>
              </a:ext>
            </a:extLst>
          </p:cNvPr>
          <p:cNvSpPr txBox="1"/>
          <p:nvPr/>
        </p:nvSpPr>
        <p:spPr>
          <a:xfrm>
            <a:off x="3391369" y="135082"/>
            <a:ext cx="44935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北厂车身焊枪马达扭矩监控</a:t>
            </a:r>
          </a:p>
        </p:txBody>
      </p:sp>
    </p:spTree>
    <p:extLst>
      <p:ext uri="{BB962C8B-B14F-4D97-AF65-F5344CB8AC3E}">
        <p14:creationId xmlns:p14="http://schemas.microsoft.com/office/powerpoint/2010/main" val="3118089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形用户界面&#10;&#10;描述已自动生成">
            <a:extLst>
              <a:ext uri="{FF2B5EF4-FFF2-40B4-BE49-F238E27FC236}">
                <a16:creationId xmlns:a16="http://schemas.microsoft.com/office/drawing/2014/main" id="{C97481A4-40A3-48C5-AE23-842AEB5734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82"/>
          <a:stretch/>
        </p:blipFill>
        <p:spPr>
          <a:xfrm>
            <a:off x="114300" y="847725"/>
            <a:ext cx="11963400" cy="56296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51C7C9CB-2668-4B6E-9466-8358F2ACA2F1}"/>
              </a:ext>
            </a:extLst>
          </p:cNvPr>
          <p:cNvSpPr txBox="1"/>
          <p:nvPr/>
        </p:nvSpPr>
        <p:spPr>
          <a:xfrm>
            <a:off x="3391369" y="135082"/>
            <a:ext cx="44935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北厂车身焊枪马达扭矩监控</a:t>
            </a:r>
          </a:p>
        </p:txBody>
      </p:sp>
    </p:spTree>
    <p:extLst>
      <p:ext uri="{BB962C8B-B14F-4D97-AF65-F5344CB8AC3E}">
        <p14:creationId xmlns:p14="http://schemas.microsoft.com/office/powerpoint/2010/main" val="3521848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E7401D0C-8725-4EAD-B3B6-0B5EA7A2DA0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486"/>
          <a:stretch/>
        </p:blipFill>
        <p:spPr>
          <a:xfrm>
            <a:off x="79899" y="856773"/>
            <a:ext cx="12032202" cy="5648802"/>
          </a:xfr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3C199C61-BDC4-45BB-A502-18DED3F691D8}"/>
              </a:ext>
            </a:extLst>
          </p:cNvPr>
          <p:cNvSpPr txBox="1"/>
          <p:nvPr/>
        </p:nvSpPr>
        <p:spPr>
          <a:xfrm>
            <a:off x="3391369" y="135082"/>
            <a:ext cx="44935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北厂车身焊枪马达扭矩监控</a:t>
            </a:r>
          </a:p>
        </p:txBody>
      </p:sp>
    </p:spTree>
    <p:extLst>
      <p:ext uri="{BB962C8B-B14F-4D97-AF65-F5344CB8AC3E}">
        <p14:creationId xmlns:p14="http://schemas.microsoft.com/office/powerpoint/2010/main" val="3884110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 descr="图形用户界面, 图表&#10;&#10;描述已自动生成">
            <a:extLst>
              <a:ext uri="{FF2B5EF4-FFF2-40B4-BE49-F238E27FC236}">
                <a16:creationId xmlns:a16="http://schemas.microsoft.com/office/drawing/2014/main" id="{C44B2D4E-1779-40E0-85FC-5B3452E0E4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60"/>
          <a:stretch/>
        </p:blipFill>
        <p:spPr>
          <a:xfrm>
            <a:off x="109889" y="892968"/>
            <a:ext cx="11972222" cy="5603082"/>
          </a:xfr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1117BF6B-A5F0-4A36-A7C5-C27135B3234E}"/>
              </a:ext>
            </a:extLst>
          </p:cNvPr>
          <p:cNvSpPr txBox="1"/>
          <p:nvPr/>
        </p:nvSpPr>
        <p:spPr>
          <a:xfrm>
            <a:off x="3391369" y="135082"/>
            <a:ext cx="44935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北厂车身焊枪马达扭矩监控</a:t>
            </a:r>
          </a:p>
        </p:txBody>
      </p:sp>
    </p:spTree>
    <p:extLst>
      <p:ext uri="{BB962C8B-B14F-4D97-AF65-F5344CB8AC3E}">
        <p14:creationId xmlns:p14="http://schemas.microsoft.com/office/powerpoint/2010/main" val="3539686783"/>
      </p:ext>
    </p:extLst>
  </p:cSld>
  <p:clrMapOvr>
    <a:masterClrMapping/>
  </p:clrMapOvr>
</p:sld>
</file>

<file path=ppt/theme/theme1.xml><?xml version="1.0" encoding="utf-8"?>
<a:theme xmlns:a="http://schemas.openxmlformats.org/drawingml/2006/main" name="Theme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spect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2700"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heme2" id="{77EFAC85-A3C7-4BC8-8246-44C1014ABB92}" vid="{519B2A11-E1CA-4FBE-9B96-7F6C90F00B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11715</TotalTime>
  <Words>673</Words>
  <Application>Microsoft Office PowerPoint</Application>
  <PresentationFormat>宽屏</PresentationFormat>
  <Paragraphs>87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 Unicode MS</vt:lpstr>
      <vt:lpstr>等线</vt:lpstr>
      <vt:lpstr>微软雅黑</vt:lpstr>
      <vt:lpstr>Arial</vt:lpstr>
      <vt:lpstr>Calibri</vt:lpstr>
      <vt:lpstr>Verdana</vt:lpstr>
      <vt:lpstr>Wingdings</vt:lpstr>
      <vt:lpstr>Theme2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Cheng Yang 程阳(PT,SWH)</dc:creator>
  <cp:lastModifiedBy>黄 悦洋</cp:lastModifiedBy>
  <cp:revision>528</cp:revision>
  <dcterms:created xsi:type="dcterms:W3CDTF">2018-02-12T03:18:37Z</dcterms:created>
  <dcterms:modified xsi:type="dcterms:W3CDTF">2022-02-21T08:29:53Z</dcterms:modified>
</cp:coreProperties>
</file>